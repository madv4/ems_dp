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4f59692c9d472c" /><Relationship Type="http://schemas.openxmlformats.org/officeDocument/2006/relationships/extended-properties" Target="/docProps/app.xml" Id="Re949132eac2248a7" /><Relationship Type="http://schemas.openxmlformats.org/officeDocument/2006/relationships/officeDocument" Target="/ppt/presentation.xml" Id="R708b16dd935044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d2cc0e3fb5402d"/>
  </p:sldMasterIdLst>
  <p:notesMasterIdLst>
    <p:notesMasterId xmlns:r="http://schemas.openxmlformats.org/officeDocument/2006/relationships" r:id="R23c3937a41414503"/>
  </p:notesMasterIdLst>
  <p:sldIdLst>
    <p:sldId xmlns:r="http://schemas.openxmlformats.org/officeDocument/2006/relationships" id="256" r:id="Re00d38b3e1ab4573"/>
    <p:sldId xmlns:r="http://schemas.openxmlformats.org/officeDocument/2006/relationships" id="257" r:id="R85b3fa1aa4374b01"/>
    <p:sldId xmlns:r="http://schemas.openxmlformats.org/officeDocument/2006/relationships" id="258" r:id="R2f101b8e217e4547"/>
    <p:sldId xmlns:r="http://schemas.openxmlformats.org/officeDocument/2006/relationships" id="259" r:id="Rbf79e2274b5d448c"/>
    <p:sldId xmlns:r="http://schemas.openxmlformats.org/officeDocument/2006/relationships" id="260" r:id="R87386704a6b9488f"/>
    <p:sldId xmlns:r="http://schemas.openxmlformats.org/officeDocument/2006/relationships" id="261" r:id="R781bc3ea9ef447dc"/>
    <p:sldId xmlns:r="http://schemas.openxmlformats.org/officeDocument/2006/relationships" id="262" r:id="Rdc4dde95fe0a493a"/>
    <p:sldId xmlns:r="http://schemas.openxmlformats.org/officeDocument/2006/relationships" id="263" r:id="R8337e29ea03a4af1"/>
    <p:sldId xmlns:r="http://schemas.openxmlformats.org/officeDocument/2006/relationships" id="264" r:id="Rcabbf2cce3884e5b"/>
    <p:sldId xmlns:r="http://schemas.openxmlformats.org/officeDocument/2006/relationships" id="265" r:id="R7eb949ac0b824d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324d3d24ef4e3d" /><Relationship Type="http://schemas.openxmlformats.org/officeDocument/2006/relationships/slideMaster" Target="/ppt/slideMasters/slideMaster1.xml" Id="R71d2cc0e3fb5402d" /><Relationship Type="http://schemas.openxmlformats.org/officeDocument/2006/relationships/notesMaster" Target="/ppt/notesMasters/notesMaster1.xml" Id="R23c3937a41414503" /><Relationship Type="http://schemas.openxmlformats.org/officeDocument/2006/relationships/presProps" Target="/ppt/presProps.xml" Id="R34a075b9584f4989" /><Relationship Type="http://schemas.openxmlformats.org/officeDocument/2006/relationships/tableStyles" Target="/ppt/tableStyles.xml" Id="R977a9cc29a524126" /><Relationship Type="http://schemas.openxmlformats.org/officeDocument/2006/relationships/slide" Target="/ppt/slides/slide1.xml" Id="Re00d38b3e1ab4573" /><Relationship Type="http://schemas.openxmlformats.org/officeDocument/2006/relationships/slide" Target="/ppt/slides/slide2.xml" Id="R85b3fa1aa4374b01" /><Relationship Type="http://schemas.openxmlformats.org/officeDocument/2006/relationships/slide" Target="/ppt/slides/slide3.xml" Id="R2f101b8e217e4547" /><Relationship Type="http://schemas.openxmlformats.org/officeDocument/2006/relationships/slide" Target="/ppt/slides/slide4.xml" Id="Rbf79e2274b5d448c" /><Relationship Type="http://schemas.openxmlformats.org/officeDocument/2006/relationships/slide" Target="/ppt/slides/slide5.xml" Id="R87386704a6b9488f" /><Relationship Type="http://schemas.openxmlformats.org/officeDocument/2006/relationships/slide" Target="/ppt/slides/slide6.xml" Id="R781bc3ea9ef447dc" /><Relationship Type="http://schemas.openxmlformats.org/officeDocument/2006/relationships/slide" Target="/ppt/slides/slide7.xml" Id="Rdc4dde95fe0a493a" /><Relationship Type="http://schemas.openxmlformats.org/officeDocument/2006/relationships/slide" Target="/ppt/slides/slide8.xml" Id="R8337e29ea03a4af1" /><Relationship Type="http://schemas.openxmlformats.org/officeDocument/2006/relationships/slide" Target="/ppt/slides/slide9.xml" Id="Rcabbf2cce3884e5b" /><Relationship Type="http://schemas.openxmlformats.org/officeDocument/2006/relationships/slide" Target="/ppt/slides/slide10.xml" Id="R7eb949ac0b824d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b321e2543e4d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ee90250c124c37" /><Relationship Type="http://schemas.openxmlformats.org/officeDocument/2006/relationships/notesMaster" Target="/ppt/notesMasters/notesMaster1.xml" Id="R088f88d2b71a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85800b1cba423a" /><Relationship Type="http://schemas.openxmlformats.org/officeDocument/2006/relationships/notesMaster" Target="/ppt/notesMasters/notesMaster1.xml" Id="R82a9d1ae5ee448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61dd907ea84807" /><Relationship Type="http://schemas.openxmlformats.org/officeDocument/2006/relationships/notesMaster" Target="/ppt/notesMasters/notesMaster1.xml" Id="Ra87b3bf890af46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5360f4a5d8401c" /><Relationship Type="http://schemas.openxmlformats.org/officeDocument/2006/relationships/notesMaster" Target="/ppt/notesMasters/notesMaster1.xml" Id="R1122d3cb3bb94e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fc3850eae04f67" /><Relationship Type="http://schemas.openxmlformats.org/officeDocument/2006/relationships/notesMaster" Target="/ppt/notesMasters/notesMaster1.xml" Id="Rd9088e8b113841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6e29df33144d74" /><Relationship Type="http://schemas.openxmlformats.org/officeDocument/2006/relationships/notesMaster" Target="/ppt/notesMasters/notesMaster1.xml" Id="R009ea9dcc22d42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1b753142914c67" /><Relationship Type="http://schemas.openxmlformats.org/officeDocument/2006/relationships/notesMaster" Target="/ppt/notesMasters/notesMaster1.xml" Id="Rec1869cce78e4d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37720a555c4956" /><Relationship Type="http://schemas.openxmlformats.org/officeDocument/2006/relationships/notesMaster" Target="/ppt/notesMasters/notesMaster1.xml" Id="R8300ce3358ad40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36d2a8944e49d2" /><Relationship Type="http://schemas.openxmlformats.org/officeDocument/2006/relationships/notesMaster" Target="/ppt/notesMasters/notesMaster1.xml" Id="R1e47c6da372249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1fe9678c8e4224" /><Relationship Type="http://schemas.openxmlformats.org/officeDocument/2006/relationships/notesMaster" Target="/ppt/notesMasters/notesMaster1.xml" Id="Rd5a3dc93a47843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FastAPI repository, attached Part 1 investigation, verified Part 2 implementation, and completed Part 3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Part1/evidence/architecture and original repository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Part1/evidence/patterns/pattern_inventory.csv and attached Part 1 investigation.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Part2 evidence change packages and verified evolved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Part2/evidence/changes/Change1 and Part2/evidence/diagrams/strategy_class_diagram.mmd.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Part2/evidence/changes/Change2 and renewable_class_diagram.mmd.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Part2/evidence/changes/Change3 and alert_sequence_diagram.mmd.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verified Part 2 test run and completed Part 3 evidence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data/cross_language.csv and Part3/evidence/test_results/summary.csv. LOC excludes blank lines, comments, and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Part3/evidence/execution_times and cross-language analysis. Timings include process startup, tests, and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408f5ab2845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96050f9bc340ea" /><Relationship Type="http://schemas.openxmlformats.org/officeDocument/2006/relationships/slideLayout" Target="/ppt/slideLayouts/slideLayout1.xml" Id="R315203f30ef344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203f30ef344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f221a62a84d24" /><Relationship Type="http://schemas.openxmlformats.org/officeDocument/2006/relationships/notesSlide" Target="/ppt/notesSlides/notesSlide1.xml" Id="Re5e8a3b6b74940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eaf447fd14f0d" /><Relationship Type="http://schemas.openxmlformats.org/officeDocument/2006/relationships/notesSlide" Target="/ppt/notesSlides/notesSlide2.xml" Id="Rf4330add06a8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5ce3c9091462f" /><Relationship Type="http://schemas.openxmlformats.org/officeDocument/2006/relationships/notesSlide" Target="/ppt/notesSlides/notesSlide3.xml" Id="R652b010f8d9e4c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e984a03884d07" /><Relationship Type="http://schemas.openxmlformats.org/officeDocument/2006/relationships/notesSlide" Target="/ppt/notesSlides/notesSlide4.xml" Id="R6f0712d3478947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9e613a9ae4753" /><Relationship Type="http://schemas.openxmlformats.org/officeDocument/2006/relationships/notesSlide" Target="/ppt/notesSlides/notesSlide5.xml" Id="Re479d733617847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38a33be34450a" /><Relationship Type="http://schemas.openxmlformats.org/officeDocument/2006/relationships/notesSlide" Target="/ppt/notesSlides/notesSlide6.xml" Id="Rd8c0c092ea9e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14455ef1741fc" /><Relationship Type="http://schemas.openxmlformats.org/officeDocument/2006/relationships/notesSlide" Target="/ppt/notesSlides/notesSlide7.xml" Id="R331520b6d4d842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a899cf9f54fc7" /><Relationship Type="http://schemas.openxmlformats.org/officeDocument/2006/relationships/notesSlide" Target="/ppt/notesSlides/notesSlide8.xml" Id="R510106ba96fa4d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0dd8696594745" /><Relationship Type="http://schemas.openxmlformats.org/officeDocument/2006/relationships/notesSlide" Target="/ppt/notesSlides/notesSlide9.xml" Id="Rb2eaeb304ed143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363687a69430b" /><Relationship Type="http://schemas.openxmlformats.org/officeDocument/2006/relationships/notesSlide" Target="/ppt/notesSlides/notesSlide10.xml" Id="R9cfafb3c63ae45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71F7D-F4AD-44CB-AE36-C3DEA294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88E1F-0873-4F76-A382-A15B12C7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Pattern Identification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3CC33-016F-48DC-B748-82BA6B38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7EF"/>
                </a:solidFill>
                <a:latin typeface="Arial"/>
                <a:ea typeface="Arial"/>
                <a:cs typeface="Arial"/>
              </a:rPr>
              <a:t>A FastAPI-Based Energy Management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76DB8-6C8E-41C3-993B-870D79DA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TEAM B13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72014-A00C-4D7E-85D4-0D687E7C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7EF"/>
                </a:solidFill>
                <a:latin typeface="Arial"/>
                <a:ea typeface="Arial"/>
                <a:cs typeface="Arial"/>
              </a:rPr>
              <a:t>AM.SC.U4CSE23306 - Anand Narayan     AM.SC.U4CSE23346 - S H Saimadhav</a:t>
            </a:r>
          </a:p>
          <a:p xmlns:a="http://schemas.openxmlformats.org/drawingml/2006/main">
            <a:pPr>
              <a:defRPr sz="1200" b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7EF"/>
                </a:solidFill>
                <a:latin typeface="Arial"/>
                <a:ea typeface="Arial"/>
                <a:cs typeface="Arial"/>
              </a:rPr>
              <a:t>AM.SC.U4CSE23365 - Vaishnav P Nair     AM.SC.U4CSE23369 - Vishnu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8EF91-4B05-468A-A572-AF617292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Parts 1-3 evidence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E4D9B-D687-41B1-A381-F291C1A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704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9E7EF"/>
                </a:solidFill>
                <a:latin typeface="Arial"/>
                <a:ea typeface="Arial"/>
                <a:cs typeface="Arial"/>
              </a:rPr>
              <a:t>Pattern discovery, software evolution, and cross-language analysis</a:t>
            </a:r>
          </a:p>
        </p:txBody>
      </p:sp>
    </p:spTree>
    <p:extLst>
      <p:ext uri="{BB962C8B-B14F-4D97-AF65-F5344CB8AC3E}">
        <p14:creationId xmlns:p14="http://schemas.microsoft.com/office/powerpoint/2010/main" val="266405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E4DED-304D-486F-9E4E-19E02859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Baseline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51930-3E37-4BAD-B763-E67C818A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A layered FastAPI service separates interface, application, domain, and infrastructure concerns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19533-EC57-4A44-991A-17ABB5E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BF5AC-0BCD-44E9-820F-AB82C776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3336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E99ED-ACB6-464C-BE82-49B85E9A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2143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Interface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FastAPI REST, runtime, WebSocket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2C2BA-B6D0-420D-B091-99C83FF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09750"/>
            <a:ext cx="2047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DF6F4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0CFEB-88E8-44E1-B309-63646946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857375"/>
            <a:ext cx="1857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Application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Services and solvers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FA4E5-BA32-47E8-924D-33973D95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3336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3F3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05D82-AC5D-464B-A725-FC423869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2143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Domain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Portfolio, Load, Metrics, Plan, 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4326E-1FE0-4925-B51B-B748D51A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2047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8F0E4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B3528-0708-4115-9045-63881FB6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57375"/>
            <a:ext cx="1857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Infrastructure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Forecast and repository adapters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86125" y="24050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6F97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24050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6F97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10625" y="24050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6F97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1118D-F912-4D90-9D07-E72981FC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6F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6F97"/>
                </a:solidFill>
                <a:latin typeface="Arial"/>
                <a:ea typeface="Arial"/>
                <a:cs typeface="Arial"/>
              </a:rPr>
              <a:t>Core runtime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3B4A6-05CA-4C5C-A532-256CAAC2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Forecast values enter Metrics. Application services build solver parameters, apply a plan, roll completed values into backward metrics, and broadcast a snapshot.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A6113-F5DC-4ED3-80AC-9B52FFFB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6F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6F97"/>
                </a:solidFill>
                <a:latin typeface="Arial"/>
                <a:ea typeface="Arial"/>
                <a:cs typeface="Arial"/>
              </a:rPr>
              <a:t>Baseline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45EBC-03F6-4557-8F2D-26D93847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625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No physical meter integration or user domain. Pricing has no explicit tariff policy. Renewable production is aggregated. WebSocket sends state without alert rules.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95DF9-F082-41E8-A46C-564C0C0E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B13 case study - Parts 1, 2, and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75CD4-7ABC-4229-A26D-2337FAAF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3138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30EFF-AAA0-4F8E-A5F0-3A13E9F7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Part 1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3BF80-09FE-4F96-AB56-A195A5F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Seven requested EMS areas classified from repository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17D01-3A5D-43D3-90EC-FE6D159B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CB361-AF8F-4979-B94C-8C4CC99C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Energy consumption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45EBE-E96F-48B4-920A-EA07FC76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002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35102-BB57-4CFE-90DB-933DB381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62100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Loads and grid/renewable draw participate in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169CA-137E-44D3-8C46-5B8CF388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BA662-1BAE-47F2-9E63-D574BE2C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Smart 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B4D8B-E727-45D0-A853-B5132788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4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B4B"/>
                </a:solidFill>
                <a:latin typeface="Arial"/>
                <a:ea typeface="Arial"/>
                <a:cs typeface="Arial"/>
              </a:rPr>
              <a:t>ABSENT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FC901-16F1-42BF-A47C-E27E6FF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0275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No meter, reading, telemetry, or device abstraction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FF7A1-51E5-4350-A4BC-072C63DC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0B721-5B19-4F38-A462-39FEBA1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23CD9-4D00-4BD7-80E8-8517657F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4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B4B"/>
                </a:solidFill>
                <a:latin typeface="Arial"/>
                <a:ea typeface="Arial"/>
                <a:cs typeface="Arial"/>
              </a:rPr>
              <a:t>ABSENT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F26A9-FC07-4DDB-BE01-BF67B7B3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38450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No account, authentication, role, or authorization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BAC49-B070-43E4-8CD3-AA404A7C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5F18E-E678-4D66-AEE2-A28F38D4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Tariff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B1832-195B-44C3-8E98-9CDE34BA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602A2-4D7E-4275-A5C1-937F5B06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GRID_PRICE exists; explicit tariff behavior does not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76722-05F0-4B37-92FB-D2118C39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76C6B-EB69-449C-A882-2D9170E3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Renewable 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643BE-22B1-475E-A47A-2AA56F0E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07DDA-20EA-4D87-8B88-9C2A89BD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14800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Production, renewable draw, and spill are modeled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D68C2-E8C6-4F07-8C3F-307057D8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BFDB5B-3FD6-4781-BD33-2AFA45A0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Alerts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A2549-1C81-4834-8151-4744EC39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910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4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B4B"/>
                </a:solidFill>
                <a:latin typeface="Arial"/>
                <a:ea typeface="Arial"/>
                <a:cs typeface="Arial"/>
              </a:rPr>
              <a:t>ABSENT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2CA4B-6114-4013-8E0F-7256CDB1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52975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No threshold, rule, alert record, or notification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67803-2F70-4D4C-86F0-ED6A943F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7EF95-6E3D-4C19-BFF1-161FC469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E6D15-27CA-465B-B8DC-86242979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EEF5C3-36C0-49E9-AC6C-90BC8AA2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91150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Metrics and streaming exist; dedicated reporting does not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2A6923-8CFB-4982-B4B7-4D96B6DE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B13 case study - Parts 1, 2, and 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D5FEE1-7983-44A3-92A1-A08E3BE9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1191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6B80F-ED58-495F-9076-74D873B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 2 evolution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9203C-2140-4426-B440-5650DE80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E7EF"/>
                </a:solidFill>
                <a:latin typeface="Arial"/>
                <a:ea typeface="Arial"/>
                <a:cs typeface="Arial"/>
              </a:rPr>
              <a:t>Each change extends an existing boundary and preserves the solver input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0496F-58EA-4AE7-9CA9-11CBE416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 tariffs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637EE-D045-4CDA-ACC3-A382893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3FD47-B0F2-4A2E-8A07-2EF12319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FC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6D4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C16D9-769D-4311-94A2-75BC72B6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 GRID_PRICE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2D85D-2281-4F67-A4CA-E554267B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7FE95-0690-4D4C-B18B-398158EF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FC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6D4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E20A5-26E6-4E64-8DB4-E1F74873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Selectable tariff policies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0A2A3-51D4-4E40-8BEF-15B4F235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1450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98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21FBF-2450-453E-83B3-5328F0E2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Renewable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976EA-FC41-4752-A926-8FC5F11C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43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STRATEGY + FACTORY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FE009-BC41-4DB1-8ECC-E0227B6A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24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FC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6D4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9EF6A-C516-4B25-A60C-FEB81597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099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Aggregate REN_PROD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3635C-4156-42DE-AAB5-B8678DAB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481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64685-077A-46F3-B9B0-1B409D48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33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FC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6D4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0C31D-4FE9-4A5B-BCF5-3F18A0D4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8196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Named solar and wind 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30958-7707-4A7E-87A0-597B91C1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71450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98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8322E-03FF-48AD-B5DB-EBB9B3F7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Consumption alerts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6F16E-F989-49EC-AF07-8A6E42B1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OBSERVER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13286-DF47-47CA-9B9B-B18DBE10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FC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6D4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C8D52-7EFA-4BAE-ABFE-63EA4D36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Metrics without alert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F800A-D975-4E46-8215-D49DF96A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481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5DDD6-5133-4CEE-BECD-3AC8405B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33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FC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6D4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C9BA1-B085-4685-A014-8E56F59A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Completed-step consumption events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84476-628C-475E-9467-6A6F8C2A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8170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GRID_PRICE and REN_PROD remain the solver-facing metrics</a:t>
            </a:r>
          </a:p>
        </p:txBody>
      </p:sp>
    </p:spTree>
    <p:extLst>
      <p:ext uri="{BB962C8B-B14F-4D97-AF65-F5344CB8AC3E}">
        <p14:creationId xmlns:p14="http://schemas.microsoft.com/office/powerpoint/2010/main" val="1736439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1E063-3A12-49EE-92E4-3695AA2E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Dynamic tariffs with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9B5F0-71AF-45FA-8EC9-EAFD4F36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Price calculation varies independently from scheduling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08DF4-7193-42EC-947F-75958E5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AF067-BB96-4377-9F43-2E54F741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A9436-D8EF-4E3D-B7C8-77F9DB89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TariffStrategy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get_price(time_index)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C4E27-C6A1-4013-BA47-62202C5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3812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6F4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F8771-C191-4AE8-834C-712D2A6B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FlatTariff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2B1E6-D29C-4CF5-9552-8CF8B35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23812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3F3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52F6E-6C46-4EC3-B12C-64ED07C1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90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TimeOfUseTariff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1EA4E-D627-4A8D-A394-C75CAD1D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3812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0E4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DB802-8C64-4B94-9F52-ADFD651C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DynamicTariff</a:t>
            </a:r>
          </a:p>
        </p:txBody>
      </p:sp>
      <p:cxnSp>
        <p:nvCxnSpPr>
          <p:cNvPr id="31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333625" y="2476500"/>
            <a:ext cx="37623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6F97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4765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6F97"/>
            </a:solidFill>
            <a:prstDash val="solid"/>
            <a:head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476500"/>
            <a:ext cx="37623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6F97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20F9F-A231-4D95-B8C4-43ECF499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6F9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6F97"/>
                </a:solidFill>
                <a:latin typeface="Arial"/>
                <a:ea typeface="Arial"/>
                <a:cs typeface="Arial"/>
              </a:rPr>
              <a:t>Provider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7E1AD-B602-42D2-9642-49329786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The selected strategy supplies GRID_PRICE. Metrics, build_params, MILP, and the heuristic solver keep their existing interfaces.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32F2E-4906-41A5-8E29-87500CA9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Verified: flat, peak window, repeating dynamic series, provider integration, invalid 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57206-DB19-4285-B610-7B5E989A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B13 case study - Parts 1, 2, and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0C143-6E1F-4D4D-A4EA-79A43F7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8307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1F67B-94E1-466F-910B-9615EFA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Renewable sources with Strategy and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5DA00-B74A-4B51-A0C6-D24EB575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Individual behaviors feed the existing aggregate production 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E926E-E754-4239-88B6-EC0293CF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61FB9-0D15-4688-ABFF-07AD8506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0E4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3D57E-20C4-4004-A1FD-85E58328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EnergySourceFactory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6CDB5-D15A-4EFE-8E23-659A32C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6F4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39B89-7C0A-40CF-BD85-E37AD62B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SolarSource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Daylight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EA889-B690-4A8A-9A89-D47225AA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05125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BC556-8807-4A03-86E3-D2C5AC7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WindSource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Availability series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714B0-315F-4711-8545-6812AE26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43125"/>
            <a:ext cx="2857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3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7B202-F0A5-4FA6-BC1B-9E62C36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SimpleForecastProvider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Per-source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82874-4FC6-4A3F-8529-5682B15E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48125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6F4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D1BEA-02BA-49DC-9139-95425DE5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957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Aggregate REN_PROD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2009775"/>
            <a:ext cx="100012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6F97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2133600"/>
            <a:ext cx="1000125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6F97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715125" y="2009775"/>
            <a:ext cx="114300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715125" y="2628900"/>
            <a:ext cx="11430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286875" y="311467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D2846-FE6F-4033-A159-28077CBB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The solvers still receive one renewable-production series. REST and WebSocket output add the source breakdown.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4FB51-4C1E-4C10-8091-C7BC7278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B13 case study - Parts 1, 2, and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F6CE0-1661-4759-9699-5875BC3F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37355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437C37-F508-4096-8F0E-35727CB2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Consumption alerts with Observer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B60E1-3FF2-4EF4-9110-F1761281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The EMS publishes completed consumption without owning every reaction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3EA9D-0A82-4B40-998E-8C26C212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A1711-6A83-4506-B05D-E5186408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57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5E751-EC75-403F-A23D-53C34244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66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Completed draw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Grid + renewable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51A7A-A520-434E-BCC4-C797907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857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58622-0039-4BD6-A594-02C354F1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166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Event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By 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A76CC-ED48-4BA0-B859-FBFB1A3C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857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1182D-CD78-4AD7-83F0-208644BE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28875"/>
            <a:ext cx="166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Subject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Notify observers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CCB74-044B-475B-89CE-FBD70FF2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857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F0E4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46273-4D59-41E5-9DA8-B1CF99DF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28875"/>
            <a:ext cx="166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Alert rule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Apply threshold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883CE-6052-4A33-97B0-6A8F171D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1857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415AD-0125-4C39-BDF2-848CB76A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28875"/>
            <a:ext cx="166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Client output</a:t>
            </a:r>
          </a:p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REST + WebSocket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43175" y="2905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6F97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10125" y="2905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6F97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77075" y="2905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6F97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344025" y="2905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6F97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AA61A-EAF5-403C-A1E1-F4FFFB6D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6F9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6F97"/>
                </a:solidFill>
                <a:latin typeface="Arial"/>
                <a:ea typeface="Arial"/>
                <a:cs typeface="Arial"/>
              </a:rPr>
              <a:t>Rule semantics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D852D-5C5E-4023-A9CA-FDE43D91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An alert occurs when completed grid plus renewable draw is strictly greater than the configured per-load threshold. Alerts remain in memory.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EDB42-180C-493C-9FFB-2C3A2A76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Verified: below threshold, exact boundary, above threshold, subscribe, unsubscribe, service integration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7CC23-50AF-4338-930A-74A96E9B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B13 case study - Parts 1, 2, and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60792-30C2-45B6-B123-DF010FB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0655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DE5AC-A920-4D82-B228-39A1B369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 2 verified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CC6D1-1202-41BE-823E-E6EFC926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72"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E858A-D5ED-450C-AEC7-A004A9D0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C5839-414D-4D36-BCB0-5A04511E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66875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61658-BEE0-410D-943F-7DE65776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E7EF"/>
                </a:solidFill>
                <a:latin typeface="Arial"/>
                <a:ea typeface="Arial"/>
                <a:cs typeface="Arial"/>
              </a:rPr>
              <a:t>build and solve completed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FEC6C-14F0-4B75-B596-A0DDA96E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9525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98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13003-D680-4072-886F-054D81EC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 3 completed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0E54D-E4DE-4118-9282-F7B93825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7EF"/>
                </a:solidFill>
                <a:latin typeface="Arial"/>
                <a:ea typeface="Arial"/>
                <a:cs typeface="Arial"/>
              </a:rPr>
              <a:t>Strategy: dynamic tariffs</a:t>
            </a:r>
          </a:p>
          <a:p xmlns:a="http://schemas.openxmlformats.org/drawingml/2006/main">
            <a:pPr>
              <a:defRPr sz="1800" b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7EF"/>
                </a:solidFill>
                <a:latin typeface="Arial"/>
                <a:ea typeface="Arial"/>
                <a:cs typeface="Arial"/>
              </a:rPr>
              <a:t>Observer: consumption alerts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7F714-8D40-44FA-83B1-9DCCE6F9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Four languages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FF29B-AED1-4965-B339-01ADDFE9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Java, Python, JavaScript, and C++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E30A6-26F4-4ABA-9778-E9EAEA9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Evidence 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4C00A-20B2-4B72-B83F-9DF89617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cases, result logs, metrics, repeated timings, and human 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1C166-3B8E-456D-B15C-295349CD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E7EF"/>
                </a:solidFill>
                <a:latin typeface="Arial"/>
                <a:ea typeface="Arial"/>
                <a:cs typeface="Arial"/>
              </a:rPr>
              <a:t>All three code directories are reserved for the team's source uploads</a:t>
            </a:r>
          </a:p>
        </p:txBody>
      </p:sp>
    </p:spTree>
    <p:extLst>
      <p:ext uri="{BB962C8B-B14F-4D97-AF65-F5344CB8AC3E}">
        <p14:creationId xmlns:p14="http://schemas.microsoft.com/office/powerpoint/2010/main" val="1087463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2CD403-B771-4F43-9AB7-80C76A0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Part 3 cross-language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8CDEC-94F5-467B-AB29-1E518F65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Two pattern problems use equivalent cases in four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267AA-8F4C-482E-B8DF-775620E7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D322F-3739-47B6-AFB3-E6D68853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B61BD-964D-4E88-8D6E-E2F3B1D8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1925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FE116-84A9-4DF0-A834-FC93D3B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1925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A96CD-24B6-489C-9190-A9DCAAA1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B7DA2-B432-4337-9B6E-6C5368D7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1925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C++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45DAA-6C6F-482B-8B86-B027FB8F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19075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313A"/>
                </a:solidFill>
                <a:latin typeface="Arial"/>
                <a:ea typeface="Arial"/>
                <a:cs typeface="Arial"/>
              </a:rPr>
              <a:t>Strategy</a:t>
            </a:r>
          </a:p>
          <a:p xmlns:a="http://schemas.openxmlformats.org/drawingml/2006/main">
            <a:pPr>
              <a:defRPr sz="1500" b="1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313A"/>
                </a:solidFill>
                <a:latin typeface="Arial"/>
                <a:ea typeface="Arial"/>
                <a:cs typeface="Arial"/>
              </a:rPr>
              <a:t>Dynamic tariff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55890-3F98-456B-9C0A-D80E4789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1857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17/17</a:t>
            </a:r>
          </a:p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72 LOC | CC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CDDED-959E-4E20-9785-EA54CFC7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38375"/>
            <a:ext cx="1857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17/17</a:t>
            </a:r>
          </a:p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51 LOC | CC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7EE83-8274-4CB0-86AD-18C4A8A2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57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17/17</a:t>
            </a:r>
          </a:p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71 LOC | CC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CC264-61DE-43A5-A4B3-43172C02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1857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17/17</a:t>
            </a:r>
          </a:p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82 LOC | CC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C05C7-118F-41E0-BCF7-892468C3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19075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313A"/>
                </a:solidFill>
                <a:latin typeface="Arial"/>
                <a:ea typeface="Arial"/>
                <a:cs typeface="Arial"/>
              </a:rPr>
              <a:t>Observer</a:t>
            </a:r>
          </a:p>
          <a:p xmlns:a="http://schemas.openxmlformats.org/drawingml/2006/main">
            <a:pPr>
              <a:defRPr sz="1500" b="1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313A"/>
                </a:solidFill>
                <a:latin typeface="Arial"/>
                <a:ea typeface="Arial"/>
                <a:cs typeface="Arial"/>
              </a:rPr>
              <a:t>Consumption alert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47BF0-36C3-4DA6-BFE3-D52655D6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1857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10/10</a:t>
            </a:r>
          </a:p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86 LOC | CC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5A5D9-D6F2-4789-9174-6AAC8ECE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24250"/>
            <a:ext cx="1857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10/10</a:t>
            </a:r>
          </a:p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43 LOC | CC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B71C1-6192-4B63-8E69-4DCFCA86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1857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10/10</a:t>
            </a:r>
          </a:p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63 LOC | CC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FA114-B4BB-45A7-9C49-777CD69F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0"/>
            <a:ext cx="1857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8C8D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10/10</a:t>
            </a:r>
          </a:p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67 LOC | CC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A6B44-A894-44A2-B554-5154715B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Tool-captured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EAF94-F11C-4FF6-B2DB-1E903482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101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Python and JavaScript test output and repeated timings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4EE76-6597-460E-8268-FA6DC918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Team-confirmed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F4A19-07DD-4F37-91F8-56011407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05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1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13A"/>
                </a:solidFill>
                <a:latin typeface="Arial"/>
                <a:ea typeface="Arial"/>
                <a:cs typeface="Arial"/>
              </a:rPr>
              <a:t>Java and C++ passes; compiler timing was unavailable in this workspace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F0CE4-FAED-4285-A825-D30DE6A3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B13 case study - Parts 1, 2, and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B93EA-F7AA-4E28-A0B3-1DCC33AC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4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71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26184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D4B76-43A5-43F5-8E70-B7996A61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Cross-language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B96D4-ADC0-44ED-9EC5-E793D955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Measured median execution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7F625-FADB-4F12-8FE5-6AE177A7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Strategy |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9FBFB-B38D-46EA-94BB-401EB88E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478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20.552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C93AB-85C4-491E-A780-382E9AA5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384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Strategy | 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9C06F-ACFD-4A0B-A514-6D4B99A3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384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41.596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7B16C-4F43-4F3E-99A4-577842A5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Observer | 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20D70-A6DF-4DAE-A72A-446764B7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289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45.165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197BD-6F6C-4070-B6E5-EB44697C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195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Observer | 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F847D-CB11-41AE-AF25-8D53DD03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195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42.924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838CD-F6B2-43EF-ADC4-ED098E74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2A421-6227-4898-858B-EE201B1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81200"/>
            <a:ext cx="4762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uses the least production code in both problems.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and C++ require more explicit type and runner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Observer keeps the same recorded complexity across all four languages.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5D607-B738-465E-808A-68A792C6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98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4FB42-7FD0-4DC4-AAA9-EBDDDA2E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Parts 1, 2, and 3 are 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5F389-2A5D-49CA-850A-7F3C60EB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10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E7EF"/>
                </a:solidFill>
                <a:latin typeface="Arial"/>
                <a:ea typeface="Arial"/>
                <a:cs typeface="Arial"/>
              </a:rPr>
              <a:t>Next: add the team's source trees and optional evidence screenshots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67619-E080-4F94-899F-BCE4D941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9A2B"/>
                </a:solidFill>
                <a:latin typeface="Arial"/>
                <a:ea typeface="Arial"/>
                <a:cs typeface="Arial"/>
              </a:rPr>
              <a:t>Java and C++ timings remain blank because they were not measured</a:t>
            </a:r>
          </a:p>
        </p:txBody>
      </p:sp>
    </p:spTree>
    <p:extLst>
      <p:ext uri="{BB962C8B-B14F-4D97-AF65-F5344CB8AC3E}">
        <p14:creationId xmlns:p14="http://schemas.microsoft.com/office/powerpoint/2010/main" val="1785719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2026-10-07T10:28:13.7510000Z</dcterms:created>
  <dcterms:modified xsi:type="dcterms:W3CDTF">2026-10-07T10:28:13.7510000Z</dcterms:modified>
</coreProperties>
</file>