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f7477d81fb424d" /><Relationship Type="http://schemas.openxmlformats.org/officeDocument/2006/relationships/extended-properties" Target="/docProps/app.xml" Id="R3952cbb13f6e4f32" /><Relationship Type="http://schemas.openxmlformats.org/officeDocument/2006/relationships/officeDocument" Target="/ppt/presentation.xml" Id="R8eab95b1722647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85d4c391cc4bea"/>
  </p:sldMasterIdLst>
  <p:notesMasterIdLst>
    <p:notesMasterId xmlns:r="http://schemas.openxmlformats.org/officeDocument/2006/relationships" r:id="R60db600c67e44b91"/>
  </p:notesMasterIdLst>
  <p:sldIdLst>
    <p:sldId xmlns:r="http://schemas.openxmlformats.org/officeDocument/2006/relationships" id="256" r:id="R5e5ac11c0bc640ab"/>
    <p:sldId xmlns:r="http://schemas.openxmlformats.org/officeDocument/2006/relationships" id="257" r:id="R1b7fb1684cd64457"/>
    <p:sldId xmlns:r="http://schemas.openxmlformats.org/officeDocument/2006/relationships" id="258" r:id="R0970d9356e4448ef"/>
    <p:sldId xmlns:r="http://schemas.openxmlformats.org/officeDocument/2006/relationships" id="259" r:id="R51fdf960367d48e4"/>
    <p:sldId xmlns:r="http://schemas.openxmlformats.org/officeDocument/2006/relationships" id="260" r:id="R47fec4e6810f4185"/>
    <p:sldId xmlns:r="http://schemas.openxmlformats.org/officeDocument/2006/relationships" id="261" r:id="R9bd5d2f782d64588"/>
    <p:sldId xmlns:r="http://schemas.openxmlformats.org/officeDocument/2006/relationships" id="262" r:id="Rc1983dd6a1a6418d"/>
    <p:sldId xmlns:r="http://schemas.openxmlformats.org/officeDocument/2006/relationships" id="263" r:id="R715d6215f7ec4842"/>
    <p:sldId xmlns:r="http://schemas.openxmlformats.org/officeDocument/2006/relationships" id="264" r:id="Rfe087f64e7544f3c"/>
    <p:sldId xmlns:r="http://schemas.openxmlformats.org/officeDocument/2006/relationships" id="265" r:id="Re1d5c7bfdc3345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7e158ec7434cfc" /><Relationship Type="http://schemas.openxmlformats.org/officeDocument/2006/relationships/slideMaster" Target="/ppt/slideMasters/slideMaster1.xml" Id="R4585d4c391cc4bea" /><Relationship Type="http://schemas.openxmlformats.org/officeDocument/2006/relationships/notesMaster" Target="/ppt/notesMasters/notesMaster1.xml" Id="R60db600c67e44b91" /><Relationship Type="http://schemas.openxmlformats.org/officeDocument/2006/relationships/presProps" Target="/ppt/presProps.xml" Id="R2c3fe7b69ef84f2e" /><Relationship Type="http://schemas.openxmlformats.org/officeDocument/2006/relationships/tableStyles" Target="/ppt/tableStyles.xml" Id="Redb8863dc41247eb" /><Relationship Type="http://schemas.openxmlformats.org/officeDocument/2006/relationships/slide" Target="/ppt/slides/slide1.xml" Id="R5e5ac11c0bc640ab" /><Relationship Type="http://schemas.openxmlformats.org/officeDocument/2006/relationships/slide" Target="/ppt/slides/slide2.xml" Id="R1b7fb1684cd64457" /><Relationship Type="http://schemas.openxmlformats.org/officeDocument/2006/relationships/slide" Target="/ppt/slides/slide3.xml" Id="R0970d9356e4448ef" /><Relationship Type="http://schemas.openxmlformats.org/officeDocument/2006/relationships/slide" Target="/ppt/slides/slide4.xml" Id="R51fdf960367d48e4" /><Relationship Type="http://schemas.openxmlformats.org/officeDocument/2006/relationships/slide" Target="/ppt/slides/slide5.xml" Id="R47fec4e6810f4185" /><Relationship Type="http://schemas.openxmlformats.org/officeDocument/2006/relationships/slide" Target="/ppt/slides/slide6.xml" Id="R9bd5d2f782d64588" /><Relationship Type="http://schemas.openxmlformats.org/officeDocument/2006/relationships/slide" Target="/ppt/slides/slide7.xml" Id="Rc1983dd6a1a6418d" /><Relationship Type="http://schemas.openxmlformats.org/officeDocument/2006/relationships/slide" Target="/ppt/slides/slide8.xml" Id="R715d6215f7ec4842" /><Relationship Type="http://schemas.openxmlformats.org/officeDocument/2006/relationships/slide" Target="/ppt/slides/slide9.xml" Id="Rfe087f64e7544f3c" /><Relationship Type="http://schemas.openxmlformats.org/officeDocument/2006/relationships/slide" Target="/ppt/slides/slide10.xml" Id="Re1d5c7bfdc3345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0d43a65d9442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f97958b5a447a0" /><Relationship Type="http://schemas.openxmlformats.org/officeDocument/2006/relationships/notesMaster" Target="/ppt/notesMasters/notesMaster1.xml" Id="Rb590c797578c4b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7cbd0dddfb41d9" /><Relationship Type="http://schemas.openxmlformats.org/officeDocument/2006/relationships/notesMaster" Target="/ppt/notesMasters/notesMaster1.xml" Id="Rb7c6835eb02f47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ff801b502049b8" /><Relationship Type="http://schemas.openxmlformats.org/officeDocument/2006/relationships/notesMaster" Target="/ppt/notesMasters/notesMaster1.xml" Id="Rbc8276350acf40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7392a618b94190" /><Relationship Type="http://schemas.openxmlformats.org/officeDocument/2006/relationships/notesMaster" Target="/ppt/notesMasters/notesMaster1.xml" Id="R45d0394b158f48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12ec30adb2434f" /><Relationship Type="http://schemas.openxmlformats.org/officeDocument/2006/relationships/notesMaster" Target="/ppt/notesMasters/notesMaster1.xml" Id="R9faedde9928a41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4e13a4b6444e2c" /><Relationship Type="http://schemas.openxmlformats.org/officeDocument/2006/relationships/notesMaster" Target="/ppt/notesMasters/notesMaster1.xml" Id="Rfe0888fcf1144f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898340d8c04e2a" /><Relationship Type="http://schemas.openxmlformats.org/officeDocument/2006/relationships/notesMaster" Target="/ppt/notesMasters/notesMaster1.xml" Id="Rc4205dde63ee49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be2c35d4894700" /><Relationship Type="http://schemas.openxmlformats.org/officeDocument/2006/relationships/notesMaster" Target="/ppt/notesMasters/notesMaster1.xml" Id="Rcbdcc50c8a5b4a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389f145617493c" /><Relationship Type="http://schemas.openxmlformats.org/officeDocument/2006/relationships/notesMaster" Target="/ppt/notesMasters/notesMaster1.xml" Id="R36dd3f2ddc944ad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0f5946cf584039" /><Relationship Type="http://schemas.openxmlformats.org/officeDocument/2006/relationships/notesMaster" Target="/ppt/notesMasters/notesMaster1.xml" Id="R854085f74f2e40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supplied FastAPI repository, attached Part 1 investigation, verified Part 2 implementation, and completed Part 3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Part1/evidence/architecture and original repository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Part1/evidence/patterns/pattern_inventory.csv and attached Part 1 investigation.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Part2 evidence change packages and verified evolved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Part2/evidence/changes/Change1 and Part2/evidence/diagrams/strategy_class_diagram.mmd.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Part2/evidence/changes/Change2 and renewable_class_diagram.mmd.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Part2/evidence/changes/Change3 and alert_sequence_diagram.mmd.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verified Part 2 test run and completed Part 3 evidence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data/cross_language.csv and Part3/evidence/test_results/summary.csv. LOC excludes blank lines, comments, and tests.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Part3/evidence/execution_times and cross-language analysis. Timings include process startup, tests, and output.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7d5587e5944f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5fe53064364d0f" /><Relationship Type="http://schemas.openxmlformats.org/officeDocument/2006/relationships/slideLayout" Target="/ppt/slideLayouts/slideLayout1.xml" Id="R4693cb501d7946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93cb501d7946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b134d7458457a" /><Relationship Type="http://schemas.openxmlformats.org/officeDocument/2006/relationships/notesSlide" Target="/ppt/notesSlides/notesSlide1.xml" Id="R99e5f2ed8dd74b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3f2cc96fb4a7e" /><Relationship Type="http://schemas.openxmlformats.org/officeDocument/2006/relationships/notesSlide" Target="/ppt/notesSlides/notesSlide2.xml" Id="R9029155d0b2d42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959d5053d4179" /><Relationship Type="http://schemas.openxmlformats.org/officeDocument/2006/relationships/notesSlide" Target="/ppt/notesSlides/notesSlide3.xml" Id="R3b4de43588c447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2bdb388924dfc" /><Relationship Type="http://schemas.openxmlformats.org/officeDocument/2006/relationships/notesSlide" Target="/ppt/notesSlides/notesSlide4.xml" Id="R665ad1ecdaa342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0777bbf7549a3" /><Relationship Type="http://schemas.openxmlformats.org/officeDocument/2006/relationships/notesSlide" Target="/ppt/notesSlides/notesSlide5.xml" Id="R12cf804e4fc341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c2cb00fb2f4b74" /><Relationship Type="http://schemas.openxmlformats.org/officeDocument/2006/relationships/notesSlide" Target="/ppt/notesSlides/notesSlide6.xml" Id="R3069dead025b4c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3ab861c374751" /><Relationship Type="http://schemas.openxmlformats.org/officeDocument/2006/relationships/notesSlide" Target="/ppt/notesSlides/notesSlide7.xml" Id="R0760024c262a4b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c4726ab0b47e2" /><Relationship Type="http://schemas.openxmlformats.org/officeDocument/2006/relationships/notesSlide" Target="/ppt/notesSlides/notesSlide8.xml" Id="Rca32cc8a4ce942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e36e26ca44bac" /><Relationship Type="http://schemas.openxmlformats.org/officeDocument/2006/relationships/notesSlide" Target="/ppt/notesSlides/notesSlide9.xml" Id="Rce4b0e32e12247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9e889b4f54745" /><Relationship Type="http://schemas.openxmlformats.org/officeDocument/2006/relationships/notesSlide" Target="/ppt/notesSlides/notesSlide10.xml" Id="R1ec402f6b03544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777A6-17F3-4316-B711-F2ADDDCF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FCD4B9-D2B0-451B-A340-5CB16CF0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43000"/>
            <a:ext cx="933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 Pattern Identification</a:t>
            </a:r>
          </a:p>
          <a:p xmlns:a="http://schemas.openxmlformats.org/drawingml/2006/main">
            <a:pPr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469EB-7D95-46BC-B8DE-A77C3DB5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670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A FastAPI-Based Energy Management 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7FFA2-E1F2-4622-B856-21ED5452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8137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TEAM B13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1909E-A464-4968-8E88-159E5999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57625"/>
            <a:ext cx="9429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AM.SC.U4CSE23306 - Anand Narayan     AM.SC.U4CSE23346 - S H Saimadhav</a:t>
            </a:r>
          </a:p>
          <a:p xmlns:a="http://schemas.openxmlformats.org/drawingml/2006/main">
            <a:pPr>
              <a:defRPr sz="1200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AM.SC.U4CSE23365 - Vaishnav P Nair     AM.SC.U4CSE23369 - Vishnu 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59C7F3-2DA9-4E34-B12D-29DBAAB2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00625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Parts 1-3 evidence package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8CBC3-11BB-4711-84BD-25225626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467350"/>
            <a:ext cx="704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Pattern discovery, software evolution, and cross-language analysis</a:t>
            </a:r>
          </a:p>
        </p:txBody>
      </p:sp>
    </p:spTree>
    <p:extLst>
      <p:ext uri="{BB962C8B-B14F-4D97-AF65-F5344CB8AC3E}">
        <p14:creationId xmlns:p14="http://schemas.microsoft.com/office/powerpoint/2010/main" val="1647313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F216BC-3C59-48B0-82C9-F9AE9609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Baseline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ED1FC-A541-4ACE-AD03-FCB2F58C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A layered FastAPI service separates interface, application, domain, and infrastructure concerns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6629B-A415-41AE-8083-2EA3B62B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78E13-D8DE-4C30-8F82-6167241B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233362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E8F1F6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0E34B-3A25-4243-AE6C-1994172F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57375"/>
            <a:ext cx="21431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Interface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FastAPI REST, runtime, WebSocket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CDFA2B-0825-4D5C-B6BB-E6810F45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809750"/>
            <a:ext cx="20478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EDF6F4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B9902-2609-4F6E-B03E-1D1C9D6E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857375"/>
            <a:ext cx="1857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Application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Services and solvers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D1D08C-F8DB-4270-B9E1-22827118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233362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3F3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6740A-6F8B-48D9-B402-657BD4D7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21431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Domain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Portfolio, Load, Metrics, Plan, ports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88373D-E161-4DE0-8E32-603D5BFE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809750"/>
            <a:ext cx="20478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8F0E4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C4ED4-B62C-4A98-8071-B38FBC22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1857375"/>
            <a:ext cx="1857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Infrastructure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Forecast and repository adapters</a:t>
            </a:r>
          </a:p>
        </p:txBody>
      </p:sp>
      <p:cxnSp>
        <p:nvCxnSpPr>
          <p:cNvPr id="32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286125" y="2405063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905500" y="2405063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cxnSp>
        <p:nvCxnSpPr>
          <p:cNvPr id="3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810625" y="2405063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03455-49D8-404F-841A-EFA3ADEB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A6F9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6F97"/>
                </a:solidFill>
                <a:latin typeface="Arial"/>
                <a:ea typeface="Arial"/>
                <a:cs typeface="Arial"/>
              </a:rPr>
              <a:t>Core runtime 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69953F-AD71-4661-88B3-9A71FD02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Forecast values enter Metrics. Application services build solver parameters, apply a plan, roll completed values into backward metrics, and broadcast a snapshot.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D35D98-78CA-4B70-9D30-C1C3B479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006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A6F9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6F97"/>
                </a:solidFill>
                <a:latin typeface="Arial"/>
                <a:ea typeface="Arial"/>
                <a:cs typeface="Arial"/>
              </a:rPr>
              <a:t>Baseline limits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FB9040-88CE-4E9F-A70D-6D4566DB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6257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No physical meter integration or user domain. Pricing has no explicit tariff policy. Renewable production is aggregated. WebSocket sends state without alert rules.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8B32F6-74CA-43E8-87E8-A2F942BE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B13 case study - Parts 1, 2, and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41A6C4-E2C4-4F13-89A9-1910DF78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328789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FFEC17-1F00-4CEB-A76F-44EC4E47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Part 1 investigation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08F6D-D7A7-43E4-B6D9-DCA03ECD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Seven requested EMS areas classified from repository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EB376E-B2AE-4724-8DE3-D03468D4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1DA1BF-4AF0-48ED-A09D-A1368E05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621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Energy consumption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63B98-07FF-438C-8CFE-25975704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0020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DE47C-998F-48EF-926A-3A4DB290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562100"/>
            <a:ext cx="585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Loads and grid/renewable draw participate in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E78CF-EEBB-4C12-8026-01CCC437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0502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8D1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7B520-3893-4D9F-9BE5-55DBB408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02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Smart 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F488B5-6EC6-4685-8C88-F0F352B9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383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94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B4B"/>
                </a:solidFill>
                <a:latin typeface="Arial"/>
                <a:ea typeface="Arial"/>
                <a:cs typeface="Arial"/>
              </a:rPr>
              <a:t>ABSENT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5CA955-A289-4334-B474-825B1671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200275"/>
            <a:ext cx="585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No meter, reading, telemetry, or device abstraction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2CB30C-9FD2-41C8-A59C-5960D06F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8D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8E3D9D-7461-4858-ACC5-DB41D6E8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63DD0C-A6AF-470C-950B-680C6696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765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94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B4B"/>
                </a:solidFill>
                <a:latin typeface="Arial"/>
                <a:ea typeface="Arial"/>
                <a:cs typeface="Arial"/>
              </a:rPr>
              <a:t>ABSENT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3B756D-C48A-4826-BE01-835824EE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838450"/>
            <a:ext cx="585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No account, authentication, role, or authorization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7BBC0-13A3-4705-9C28-A532E308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813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8D1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58EEF2-136E-433E-9646-14F121AF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7662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Tariff management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64973E-1A24-408A-B84F-65BD9A3E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1472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9A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9A2B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5E3E83-5556-407F-B067-37AF6330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476625"/>
            <a:ext cx="585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GRID_PRICE exists; explicit tariff behavior does not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F1648D-2DE8-42C8-A3AF-50A8135D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8D1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ABF0D-11E0-473E-82E3-86156BC1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148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Renewable sources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B4D3B0-50F2-4578-8801-A0AECDB8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5290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PRESENT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2259AE-DA10-48AA-BE48-E21BA0E2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114800"/>
            <a:ext cx="585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Production, renewable draw, and spill are modeled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80BE3E-DB2E-4DEB-B1A5-494D3D4F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5772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8D1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C91D89-9D0A-4DF9-A5E7-7C8268D8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529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Alerts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933F70-8529-4444-ABB4-35165BD0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910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94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B4B"/>
                </a:solidFill>
                <a:latin typeface="Arial"/>
                <a:ea typeface="Arial"/>
                <a:cs typeface="Arial"/>
              </a:rPr>
              <a:t>ABSENT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E8CC7A-8E79-405C-A8E7-1D4A9DD5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752975"/>
            <a:ext cx="585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No threshold, rule, alert record, or notification 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C7EA2C-ADF8-4657-BCFB-30D78EE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959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8D1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66E272-BE96-47C4-A730-A146CBE1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911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Reporting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3D0E54-F9CF-434D-9752-96E1A90A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4292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9A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9A2B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2002BC-AC43-42B7-BA5B-B12324E5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391150"/>
            <a:ext cx="585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Metrics and streaming exist; dedicated reporting does not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5369F1-5581-4005-BEC0-DF3DFA1C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B13 case study - Parts 1, 2, and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B7D011-7160-4CA8-BDA3-08EFE7A8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254629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11AC72-982E-425C-9894-4FFF8CD8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 2 evolution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D818D8-7C02-4CDF-A1E2-23DD500B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8107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Each change extends an existing boundary and preserves the solver input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E18E8-A28D-4110-B748-4879F231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Dynamic tariffs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0E8321-63C4-42B0-B115-AB44025B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STRATEGY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9873B-8BDD-4C27-9D96-E90E61F1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FC6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6D4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B4862-CA9A-47E4-BDC7-A9CD16FA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Random GRID_PRICE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FBB854-3F62-4B1E-831B-D6A4F72E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8321D-1108-4D8D-B145-CC3285C8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FC6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6D4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EE6B8B-5CC8-4A1D-80C1-7A4F1141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Selectable tariff policies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3B5BD-C448-48E6-96EC-E5F5356C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71450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98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0EE4D3-7D20-4DC5-ACCE-C74FFDC2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09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Renewable integration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97199A-B68F-4C6B-B6F4-13F78932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3431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STRATEGY + FACTORY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A707C-63D6-4B3D-BA72-0C58CEAB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1242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FC6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6D4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5B86A4-8F71-47D8-AB91-AEA3D051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4099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Aggregate REN_PROD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C37AE-3BA6-4678-8FDD-2F7D730A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2481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5E727-52D1-44C4-A335-F9374B9A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5339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FC6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6D4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607D1-81E7-4017-939D-4A2F2069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81965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Named solar and wind sources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7DBCA6-B429-4750-B07B-AE192948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71450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98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DDDFA3-8FF7-4A90-B724-A861ACE9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09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Consumption alerts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A144C9-2189-458C-A81E-BB29CB34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431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OBSERVER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3EC40-7FEC-478B-9F3B-5A3B06EB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242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FC6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6D4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39BF3C-0705-4B61-9CA8-9342F50F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099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Metrics without alert rules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D3C907-5426-41F0-A8AC-259CBC46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481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78B74E-D3D1-42B1-B9F1-3644A06C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339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FC6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6D4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4D9162-30A2-414E-A87F-C3A86E1A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1965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Completed-step consumption events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445DF0-7382-4944-A1EA-4BD55E13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8170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GRID_PRICE and REN_PROD remain the solver-facing metrics</a:t>
            </a:r>
          </a:p>
        </p:txBody>
      </p:sp>
    </p:spTree>
    <p:extLst>
      <p:ext uri="{BB962C8B-B14F-4D97-AF65-F5344CB8AC3E}">
        <p14:creationId xmlns:p14="http://schemas.microsoft.com/office/powerpoint/2010/main" val="17980019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8D5B5D-D7E6-4E2F-8B96-4D4C2DA8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Dynamic tariffs with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A1C16-54C4-4203-9AF1-B3B25AEF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Price calculation varies independently from scheduling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F6DA2C-1585-4676-8450-14B060BB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3EE65-142B-4963-AC33-6C6539FB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19250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1F6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E104F6-A9D9-4BB9-9599-89553665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TariffStrategy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get_price(time_index)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5927F5-94BE-4251-B119-123E818E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23812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DF6F4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583EF4-FEB1-4B67-9AC6-42D53C64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9087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FlatTariff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9D683-8CD9-4843-BA91-DDEA2087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143250"/>
            <a:ext cx="23812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3F3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DEBD7-BFF6-4A95-A349-C3BC646C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19087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TimeOfUseTariff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8AE6D1-921A-4EA9-B90B-E382C564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43250"/>
            <a:ext cx="23812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F0E4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8B1D0F-4D63-4665-845D-ED70AEAB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9087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DynamicTariff</a:t>
            </a:r>
          </a:p>
        </p:txBody>
      </p:sp>
      <p:cxnSp>
        <p:nvCxnSpPr>
          <p:cNvPr id="31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333625" y="2476500"/>
            <a:ext cx="3762375" cy="666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6F97"/>
            </a:solidFill>
            <a:prstDash val="solid"/>
            <a:headEnd type="triangle" w="sm" len="sm"/>
          </a:ln>
        </p:spPr>
      </p:cxnSp>
      <p:cxnSp>
        <p:nvCxnSpPr>
          <p:cNvPr id="32" name=""/>
          <p:cNvCxnSpPr>
            <a:stCxn xmlns:a="http://schemas.openxmlformats.org/drawingml/2006/main" id="4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096000" y="2476500"/>
            <a:ext cx="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6F97"/>
            </a:solidFill>
            <a:prstDash val="solid"/>
            <a:head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4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6096000" y="2476500"/>
            <a:ext cx="3762375" cy="666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6F97"/>
            </a:solidFill>
            <a:prstDash val="solid"/>
            <a:head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89690-100F-4A0B-8D60-8B06A89F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672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A6F9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6F97"/>
                </a:solidFill>
                <a:latin typeface="Arial"/>
                <a:ea typeface="Arial"/>
                <a:cs typeface="Arial"/>
              </a:rPr>
              <a:t>Provider boundary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F013CF-22BC-42B6-946A-7BD6C51E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2920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The selected strategy supplies GRID_PRICE. Metrics, build_params, MILP, and the heuristic solver keep their existing interfaces.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CAE9AD-A8F8-4770-84B0-1DE3ED47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Verified: flat, peak window, repeating dynamic series, provider integration, invalid request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66E89-1C08-4D32-BDA1-A9000B7D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B13 case study - Parts 1, 2, and 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ABF67F-FF52-404E-9BEE-B4856CED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010435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36C672-9720-4DF9-9380-6C4DD8E0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Renewable sources with Strategy and Factory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C5BBE9-B1FE-4EA9-B13D-741FF129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Individual behaviors feed the existing aggregate production metric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CA8BA7-E0B5-4A6D-B9CC-92325776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FC03CB-678B-4A61-9327-FCCF5B45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62125"/>
            <a:ext cx="2476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F0E4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7E303-1A3A-4FE8-A964-213F40C0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228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EnergySourceFactory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C08D3-6FB8-4825-8ABF-E05B04FF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24000"/>
            <a:ext cx="23812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6F4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776807-CD92-4936-93EC-076A4554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716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SolarSource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Daylight profile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438EA-B014-48EF-85D8-2A5115DC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905125"/>
            <a:ext cx="23812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1F6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E1508D-FF8E-463E-AD42-01F9A556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52750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WindSource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Availability series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F2A8E4-2E1F-4F34-AD8E-61204A04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43125"/>
            <a:ext cx="2857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3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031E2-17AB-443B-8A7C-E2737C0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907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SimpleForecastProvider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Per-source values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BA668A-DA69-4BD4-93C3-8323FCCF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48125"/>
            <a:ext cx="2857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DF6F4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02AD3-C1CA-4831-B695-4A52F78D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9575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Aggregate REN_PROD</a:t>
            </a:r>
          </a:p>
        </p:txBody>
      </p:sp>
      <p:cxnSp>
        <p:nvCxnSpPr>
          <p:cNvPr id="35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3333750" y="2009775"/>
            <a:ext cx="1000125" cy="1238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cxnSp>
        <p:nvCxnSpPr>
          <p:cNvPr id="36" name=""/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333750" y="2133600"/>
            <a:ext cx="1000125" cy="12573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715125" y="2009775"/>
            <a:ext cx="1143000" cy="619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6715125" y="2628900"/>
            <a:ext cx="1143000" cy="762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triangle" w="sm" len="sm"/>
          </a:ln>
        </p:spPr>
      </p:cxnSp>
      <p:cxnSp>
        <p:nvCxnSpPr>
          <p:cNvPr id="39" name=""/>
          <p:cNvCxnSpPr>
            <a:stCxn xmlns:a="http://schemas.openxmlformats.org/drawingml/2006/main" id="10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9286875" y="3114675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9A5223-5DF8-41AC-825F-97F0F35D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81625"/>
            <a:ext cx="1028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The solvers still receive one renewable-production series. REST and WebSocket output add the source breakdown.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5DF14A-6DC8-43A9-87C9-97176EE0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B13 case study - Parts 1, 2, and 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AA8E3E-D4A1-4C10-97DD-17540816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37032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95F6CB-1976-4483-B014-A21B2643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Consumption alerts with Observer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51DC7-A094-4E98-885D-4B260E72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The EMS publishes completed consumption without owning every reaction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96B270-32BD-428F-A574-74405FFF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9CB76B-2A76-46E3-8805-320DB600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857375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0CEED9-784C-4CBF-872D-F33DF3F7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666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Completed draw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Grid + renewable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B890D6-CE2B-48B4-AB9C-D147CD12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81250"/>
            <a:ext cx="1857375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5994F4-2DEC-41F8-854A-5A98F96A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28875"/>
            <a:ext cx="1666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Event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By 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C782D-26A7-482E-9F93-B8770E16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81250"/>
            <a:ext cx="1857375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BFE46E-99AD-4FFA-A6C3-11DB99E7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28875"/>
            <a:ext cx="1666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Subject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Notify observers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8E674-FA01-4FB6-A57A-54D340D3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1857375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8F0E4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37FACE-3254-48FD-8AA7-62A6CA9E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28875"/>
            <a:ext cx="1666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Alert rule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Apply threshold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1F843-8BBE-4916-8849-F4C37313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381250"/>
            <a:ext cx="1857375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6FA59E-CFD8-466B-880B-305D611E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28875"/>
            <a:ext cx="1666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Client output</a:t>
            </a:r>
          </a:p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REST + WebSocket</a:t>
            </a:r>
          </a:p>
        </p:txBody>
      </p:sp>
      <p:cxnSp>
        <p:nvCxnSpPr>
          <p:cNvPr id="36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543175" y="29051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810125" y="29051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077075" y="29051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cxnSp>
        <p:nvCxnSpPr>
          <p:cNvPr id="3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9344025" y="29051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6F97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EA222B-70AB-4AAC-AAAA-AD181D91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38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A6F9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6F97"/>
                </a:solidFill>
                <a:latin typeface="Arial"/>
                <a:ea typeface="Arial"/>
                <a:cs typeface="Arial"/>
              </a:rPr>
              <a:t>Rule semantics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30F4DF-11B7-4978-AC46-46CC4968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38675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An alert occurs when completed grid plus renewable draw is strictly greater than the configured per-load threshold. Alerts remain in memory.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F7E982-0D03-4F87-B4AC-75CB77FD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Verified: below threshold, exact boundary, above threshold, subscribe, unsubscribe, service integration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8F4269-2605-4EEA-9AE8-0AAB3381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B13 case study - Parts 1, 2, and 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AE2C95-DC50-4CB7-A53E-F48F818B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404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06A72-33CD-472F-A624-2F683017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"/>
            <a:ext cx="523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 2 verified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868F56-0499-4B5B-B2C2-8C774231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228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872"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7050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A31DF7-1039-42C0-8A6C-B7A92FB8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2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32EF1-53E9-435A-8042-13765DBD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666875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MILP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53C76B-EE1A-44BA-A8E0-BD5589C0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670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build and solve completed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F9D483-C430-4BC3-A9F7-6B95D9E1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9525" cy="395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98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131FA-1DA5-4BE1-A0EE-AD7F0385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240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 3 completed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0EB1D5-E5DC-4BBE-AA96-BFEB5BF2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90750"/>
            <a:ext cx="4476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Strategy: dynamic tariffs</a:t>
            </a:r>
          </a:p>
          <a:p xmlns:a="http://schemas.openxmlformats.org/drawingml/2006/main">
            <a:pPr>
              <a:defRPr sz="1800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Observer: consumption alerts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4F640-4BC3-4E6A-BD61-B84E75D6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Four languages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301161-0A4B-4FC7-A502-1A9925E9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Java, Python, JavaScript, and C++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3115E-0990-4EF1-AE86-D116C987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720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Evidence included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7E44D-3964-4127-A5A3-F40CFFB0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93395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cases, result logs, metrics, repeated timings, and human verification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6FC09F-92B2-45D3-9B9B-EB08D266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436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E7EF"/>
                </a:solidFill>
                <a:latin typeface="Arial"/>
                <a:ea typeface="Arial"/>
                <a:cs typeface="Arial"/>
              </a:rPr>
              <a:t>Original, evolved, and cross-language source trees are included</a:t>
            </a:r>
          </a:p>
        </p:txBody>
      </p:sp>
    </p:spTree>
    <p:extLst>
      <p:ext uri="{BB962C8B-B14F-4D97-AF65-F5344CB8AC3E}">
        <p14:creationId xmlns:p14="http://schemas.microsoft.com/office/powerpoint/2010/main" val="1930245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F6E902-02F1-4089-961F-38659905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Part 3 cross-language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297E80-83FF-42E2-A694-5FE3BE6B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Two pattern problems use equivalent cases in four languages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B4E890-8516-4051-9490-8B609075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9D707-E7D5-4FAB-BA74-4CC675EB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Pattern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CC5733-E03F-4DBB-BA4D-1A717D25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619250"/>
            <a:ext cx="1857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AD7BF-2DB2-427D-B303-BA853142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619250"/>
            <a:ext cx="1857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Python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B5FA76-6998-47E4-A171-AF47CC7B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1857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JavaScript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AF59E-5AD9-47BA-A754-39D2B953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619250"/>
            <a:ext cx="1857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C++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75D868-B8C7-4687-BF10-2442F89B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2190750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13A"/>
                </a:solidFill>
                <a:latin typeface="Arial"/>
                <a:ea typeface="Arial"/>
                <a:cs typeface="Arial"/>
              </a:rPr>
              <a:t>Strategy</a:t>
            </a:r>
          </a:p>
          <a:p xmlns:a="http://schemas.openxmlformats.org/drawingml/2006/main">
            <a:pPr>
              <a:defRPr sz="1500" b="1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13A"/>
                </a:solidFill>
                <a:latin typeface="Arial"/>
                <a:ea typeface="Arial"/>
                <a:cs typeface="Arial"/>
              </a:rPr>
              <a:t>Dynamic tariff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93B59E-218A-4CA9-9003-5C6A0965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38375"/>
            <a:ext cx="1857375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17/17</a:t>
            </a:r>
          </a:p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72 LOC | CC 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411786-C532-4CDD-A73F-24D04F3B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238375"/>
            <a:ext cx="1857375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17/17</a:t>
            </a:r>
          </a:p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51 LOC | CC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980D90-0832-43A3-A8FB-89A63C77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38375"/>
            <a:ext cx="1857375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17/17</a:t>
            </a:r>
          </a:p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71 LOC | CC 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4E2D1C-EFAC-4039-8585-1DB287D6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38375"/>
            <a:ext cx="1857375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EF4F7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17/17</a:t>
            </a:r>
          </a:p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82 LOC | CC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E5D85A-23F6-4401-AEF3-236B9FF3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2190750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13A"/>
                </a:solidFill>
                <a:latin typeface="Arial"/>
                <a:ea typeface="Arial"/>
                <a:cs typeface="Arial"/>
              </a:rPr>
              <a:t>Observer</a:t>
            </a:r>
          </a:p>
          <a:p xmlns:a="http://schemas.openxmlformats.org/drawingml/2006/main">
            <a:pPr>
              <a:defRPr sz="1500" b="1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13A"/>
                </a:solidFill>
                <a:latin typeface="Arial"/>
                <a:ea typeface="Arial"/>
                <a:cs typeface="Arial"/>
              </a:rPr>
              <a:t>Consumption alert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BF9704-A5F6-430F-A175-146320A2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24250"/>
            <a:ext cx="1857375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10/10</a:t>
            </a:r>
          </a:p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86 LOC | CC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F729C9-4AA5-4112-94CD-A1E1E54B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524250"/>
            <a:ext cx="1857375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10/10</a:t>
            </a:r>
          </a:p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43 LOC | CC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4034E6-A53D-48C2-8B67-0D659DD2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24250"/>
            <a:ext cx="1857375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10/10</a:t>
            </a:r>
          </a:p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63 LOC | CC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122410-4096-48A8-AB9A-1611EF8F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0"/>
            <a:ext cx="1857375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B8C8D1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10/10</a:t>
            </a:r>
          </a:p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67 LOC | CC 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F91790-87EC-4951-BA8A-7EC224D3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482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Tool-captured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D2CFF8-A522-49ED-BABA-6381F2D1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010150"/>
            <a:ext cx="442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Python and JavaScript test output and repeated timings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4C7309-2A35-4C2C-A7D5-A5745872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35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9A2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99A2B"/>
                </a:solidFill>
                <a:latin typeface="Arial"/>
                <a:ea typeface="Arial"/>
                <a:cs typeface="Arial"/>
              </a:rPr>
              <a:t>Terminal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1D5189-7F1C-46F8-A130-FFD8006A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5054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1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313A"/>
                </a:solidFill>
                <a:latin typeface="Arial"/>
                <a:ea typeface="Arial"/>
                <a:cs typeface="Arial"/>
              </a:rPr>
              <a:t>Java and C++ passes are documented; compiler timing was unavailable in this workspace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BDD7E8-0817-4CC1-8144-AB567850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B13 case study - Parts 1, 2, and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B20F3F-E0D1-4ACB-9A67-A46955AD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364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36471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52606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1691F8-FC4E-458F-B4A4-1ACA8562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6250"/>
            <a:ext cx="619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Cross-language findings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BC76F-DBC4-4369-A988-B10BF078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4238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Measured median execution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4C97E-DFEC-40A1-ABA2-838A693C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Strategy | Python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2624D-EF27-4552-A162-E2CF1C61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47875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20.552 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0EF28-2154-40E8-BF60-450DF632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384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Strategy | JavaScript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BC8DBF-AB2E-4DFA-9F07-7C92DACB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38425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41.596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19EE9C-7CD5-4A51-9FFD-3BA253BF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289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Observer | Python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167A6B-75A3-476D-8A91-D98C34C1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28975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45.165 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4F4C23-074F-43E4-BBDE-EDA927E5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195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Observer | JavaScript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C2E89-0219-4679-B263-5BAD1463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19525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42.924 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B8F82-4219-4428-B534-81112784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4763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A9D8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A9D8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C0B253-8BB2-439D-8FFD-C1BFCD63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981200"/>
            <a:ext cx="4762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Python uses the least production code in both problems.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 and C++ require more explicit type and runner structure.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Observer keeps the same recorded complexity across all four languages.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B4C1F-54F2-43DF-90D0-7634EBA9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98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AB3ECD-F146-4421-8821-40EAD7FE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81625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Parts 1, 2, and 3 are complete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6B235-6640-4FC0-A4F9-EF3A9D99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4102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22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E7E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E7EF"/>
                </a:solidFill>
                <a:latin typeface="Arial"/>
                <a:ea typeface="Arial"/>
                <a:cs typeface="Arial"/>
              </a:rPr>
              <a:t>Final source trees and supporting evidence are included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8A68C-E650-4A16-8403-CBA97906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D99A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99A2B"/>
                </a:solidFill>
                <a:latin typeface="Arial"/>
                <a:ea typeface="Arial"/>
                <a:cs typeface="Arial"/>
              </a:rPr>
              <a:t>Java and C++ timings remain blank because they were not measured</a:t>
            </a:r>
          </a:p>
        </p:txBody>
      </p:sp>
    </p:spTree>
    <p:extLst>
      <p:ext uri="{BB962C8B-B14F-4D97-AF65-F5344CB8AC3E}">
        <p14:creationId xmlns:p14="http://schemas.microsoft.com/office/powerpoint/2010/main" val="13371611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2026-10-07T13:16:55.6980000Z</dcterms:created>
  <dcterms:modified xsi:type="dcterms:W3CDTF">2026-10-07T13:16:55.6980000Z</dcterms:modified>
</coreProperties>
</file>